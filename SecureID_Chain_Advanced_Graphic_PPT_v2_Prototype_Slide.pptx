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87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-1188720" y="5120640"/>
            <a:ext cx="3291840" cy="3291840"/>
          </a:xfrm>
          <a:prstGeom prst="ellipse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A5B5CD"/>
                </a:solidFill>
                <a:latin typeface="Aptos"/>
              </a:defRPr>
            </a:pPr>
            <a:r>
              <a:t>SECUREID CHAIN  •  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112" y="156788"/>
            <a:ext cx="10607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2F7FF"/>
                </a:solidFill>
                <a:latin typeface="Aptos"/>
              </a:defRPr>
            </a:pPr>
            <a:r>
              <a:t>SECUREID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075" y="652963"/>
            <a:ext cx="102412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5B5CD"/>
                </a:solidFill>
                <a:latin typeface="Aptos"/>
              </a:defRPr>
            </a:pPr>
            <a:r>
              <a:rPr sz="20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AI-Powered Blockchain-Based Digital Identity &amp; Credential Verification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9430" y="1026553"/>
            <a:ext cx="5303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200" b="1">
                <a:solidFill>
                  <a:srgbClr val="F2F7FF"/>
                </a:solidFill>
                <a:latin typeface="Aptos"/>
              </a:defRPr>
            </a:pPr>
            <a:r>
              <a:rPr dirty="0"/>
              <a:t>SECUREID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3698" y="1570356"/>
            <a:ext cx="5303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200" b="1">
                <a:solidFill>
                  <a:srgbClr val="28DCFF"/>
                </a:solidFill>
                <a:latin typeface="Aptos"/>
              </a:defRPr>
            </a:pPr>
            <a:r>
              <a:t>CHAIN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79139" y="5497826"/>
            <a:ext cx="55778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A5B5CD"/>
                </a:solidFill>
                <a:latin typeface="Aptos"/>
              </a:defRPr>
            </a:pPr>
            <a:r>
              <a:rPr sz="2800" dirty="0">
                <a:solidFill>
                  <a:schemeClr val="bg1">
                    <a:lumMod val="95000"/>
                  </a:schemeClr>
                </a:solidFill>
                <a:highlight>
                  <a:srgbClr val="000000"/>
                </a:highlight>
              </a:rPr>
              <a:t>Verify Once. Trust Everywhere</a:t>
            </a:r>
            <a:r>
              <a:rPr sz="2800" dirty="0">
                <a:highlight>
                  <a:srgbClr val="000000"/>
                </a:highlight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1417320"/>
            <a:ext cx="4480560" cy="34747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 flipV="1">
            <a:off x="7315200" y="1828800"/>
            <a:ext cx="2103120" cy="137160"/>
          </a:xfrm>
          <a:prstGeom prst="line">
            <a:avLst/>
          </a:prstGeom>
          <a:ln w="25400">
            <a:solidFill>
              <a:srgbClr val="875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315200" y="1965960"/>
            <a:ext cx="1005840" cy="960120"/>
          </a:xfrm>
          <a:prstGeom prst="line">
            <a:avLst/>
          </a:prstGeom>
          <a:ln w="25400">
            <a:solidFill>
              <a:srgbClr val="875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8321040" y="1828800"/>
            <a:ext cx="1097280" cy="1097280"/>
          </a:xfrm>
          <a:prstGeom prst="line">
            <a:avLst/>
          </a:prstGeom>
          <a:ln w="25400">
            <a:solidFill>
              <a:srgbClr val="875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418320" y="1828800"/>
            <a:ext cx="822960" cy="1417320"/>
          </a:xfrm>
          <a:prstGeom prst="line">
            <a:avLst/>
          </a:prstGeom>
          <a:ln w="25400">
            <a:solidFill>
              <a:srgbClr val="875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7406640" y="2926080"/>
            <a:ext cx="914400" cy="1051559"/>
          </a:xfrm>
          <a:prstGeom prst="line">
            <a:avLst/>
          </a:prstGeom>
          <a:ln w="25400">
            <a:solidFill>
              <a:srgbClr val="875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321040" y="2926080"/>
            <a:ext cx="1280160" cy="1325880"/>
          </a:xfrm>
          <a:prstGeom prst="line">
            <a:avLst/>
          </a:prstGeom>
          <a:ln w="25400">
            <a:solidFill>
              <a:srgbClr val="875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9601200" y="3246120"/>
            <a:ext cx="640080" cy="1005840"/>
          </a:xfrm>
          <a:prstGeom prst="line">
            <a:avLst/>
          </a:prstGeom>
          <a:ln w="25400">
            <a:solidFill>
              <a:srgbClr val="875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406640" y="3977639"/>
            <a:ext cx="2194560" cy="274321"/>
          </a:xfrm>
          <a:prstGeom prst="line">
            <a:avLst/>
          </a:prstGeom>
          <a:ln w="25400">
            <a:solidFill>
              <a:srgbClr val="875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196328" y="1847088"/>
            <a:ext cx="237744" cy="237744"/>
          </a:xfrm>
          <a:prstGeom prst="ellipse">
            <a:avLst/>
          </a:prstGeom>
          <a:solidFill>
            <a:srgbClr val="28DC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299448" y="1709928"/>
            <a:ext cx="237744" cy="237744"/>
          </a:xfrm>
          <a:prstGeom prst="ellipse">
            <a:avLst/>
          </a:prstGeom>
          <a:solidFill>
            <a:srgbClr val="28DC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202167" y="2807208"/>
            <a:ext cx="237744" cy="237744"/>
          </a:xfrm>
          <a:prstGeom prst="ellipse">
            <a:avLst/>
          </a:prstGeom>
          <a:solidFill>
            <a:srgbClr val="28DC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122407" y="3127248"/>
            <a:ext cx="237744" cy="237744"/>
          </a:xfrm>
          <a:prstGeom prst="ellipse">
            <a:avLst/>
          </a:prstGeom>
          <a:solidFill>
            <a:srgbClr val="28DC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287768" y="3858768"/>
            <a:ext cx="237744" cy="237744"/>
          </a:xfrm>
          <a:prstGeom prst="ellipse">
            <a:avLst/>
          </a:prstGeom>
          <a:solidFill>
            <a:srgbClr val="28DC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482328" y="4133088"/>
            <a:ext cx="237744" cy="237744"/>
          </a:xfrm>
          <a:prstGeom prst="ellipse">
            <a:avLst/>
          </a:prstGeom>
          <a:solidFill>
            <a:srgbClr val="28DC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03720" y="5257800"/>
            <a:ext cx="3931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F"/>
                </a:solidFill>
                <a:latin typeface="Aptos"/>
              </a:defRPr>
            </a:pPr>
            <a:r>
              <a:t>AI  •  BLOCKCHAIN  •  DIGITAL IDENTITY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329" y="2267129"/>
            <a:ext cx="5813755" cy="27392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5B5CD"/>
                </a:solidFill>
                <a:latin typeface="Aptos"/>
              </a:defRPr>
            </a:pPr>
            <a:r>
              <a:rPr sz="20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Automate India Hackathon 2026</a:t>
            </a:r>
            <a:endParaRPr lang="en-US" sz="20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l">
              <a:defRPr sz="1300" b="0">
                <a:solidFill>
                  <a:srgbClr val="A5B5CD"/>
                </a:solidFill>
                <a:latin typeface="Aptos"/>
              </a:defRPr>
            </a:pPr>
            <a:br>
              <a:rPr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</a:br>
            <a:r>
              <a:rPr sz="20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Theme: Blockchain &amp; AI Innovation</a:t>
            </a:r>
            <a:endParaRPr lang="en-US" sz="20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l">
              <a:defRPr sz="1300" b="0">
                <a:solidFill>
                  <a:srgbClr val="A5B5CD"/>
                </a:solidFill>
                <a:latin typeface="Aptos"/>
              </a:defRPr>
            </a:pPr>
            <a:br>
              <a:rPr b="1" dirty="0"/>
            </a:br>
            <a:r>
              <a:rPr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Primary Track: Track 4 — </a:t>
            </a:r>
            <a:r>
              <a:rPr sz="2000" b="1" dirty="0">
                <a:solidFill>
                  <a:srgbClr val="92D050"/>
                </a:solidFill>
              </a:rPr>
              <a:t>Digital Identity Systems</a:t>
            </a:r>
            <a:endParaRPr lang="en-US" sz="2000" b="1" dirty="0">
              <a:solidFill>
                <a:srgbClr val="92D050"/>
              </a:solidFill>
            </a:endParaRPr>
          </a:p>
          <a:p>
            <a:pPr algn="l">
              <a:defRPr sz="1300" b="0">
                <a:solidFill>
                  <a:srgbClr val="A5B5CD"/>
                </a:solidFill>
                <a:latin typeface="Aptos"/>
              </a:defRPr>
            </a:pPr>
            <a:br>
              <a:rPr b="1" dirty="0"/>
            </a:br>
            <a:r>
              <a:rPr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Supporting: Track 2 + Track 5</a:t>
            </a:r>
            <a:endParaRPr lang="en-US" sz="20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algn="l">
              <a:defRPr sz="1300" b="0">
                <a:solidFill>
                  <a:srgbClr val="A5B5CD"/>
                </a:solidFill>
                <a:latin typeface="Aptos"/>
              </a:defRPr>
            </a:pPr>
            <a:br>
              <a:rPr dirty="0"/>
            </a:br>
            <a:r>
              <a:rPr sz="2000" b="1" dirty="0">
                <a:solidFill>
                  <a:srgbClr val="00B0F0"/>
                </a:solidFill>
              </a:rPr>
              <a:t>Team</a:t>
            </a:r>
            <a:r>
              <a:rPr sz="2000" dirty="0"/>
              <a:t>: [</a:t>
            </a:r>
            <a:r>
              <a:rPr lang="en-US" sz="2000" dirty="0">
                <a:solidFill>
                  <a:srgbClr val="FFFF00"/>
                </a:solidFill>
              </a:rPr>
              <a:t>A&amp;M DEFENDERS</a:t>
            </a:r>
            <a:r>
              <a:rPr sz="2000" dirty="0"/>
              <a:t>]  |  </a:t>
            </a:r>
            <a:r>
              <a:rPr sz="2000" b="1" dirty="0">
                <a:solidFill>
                  <a:srgbClr val="00B0F0"/>
                </a:solidFill>
              </a:rPr>
              <a:t>Members</a:t>
            </a:r>
            <a:r>
              <a:rPr sz="2000" dirty="0"/>
              <a:t>: [</a:t>
            </a:r>
            <a:r>
              <a:rPr lang="en-US" sz="2000" dirty="0">
                <a:solidFill>
                  <a:srgbClr val="FFFF00"/>
                </a:solidFill>
              </a:rPr>
              <a:t>Madhav And Amarjeet Singh</a:t>
            </a:r>
            <a:r>
              <a:rPr sz="2000" dirty="0"/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" y="5585155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87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-1188720" y="5120640"/>
            <a:ext cx="3291840" cy="3291840"/>
          </a:xfrm>
          <a:prstGeom prst="ellipse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A5B5CD"/>
                </a:solidFill>
                <a:latin typeface="Aptos"/>
              </a:defRPr>
            </a:pPr>
            <a:r>
              <a:t>SECUREID CHAIN  • 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233870"/>
            <a:ext cx="10607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2F7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501" y="705560"/>
            <a:ext cx="102412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5B5CD"/>
                </a:solidFill>
                <a:latin typeface="Aptos"/>
              </a:defRPr>
            </a:pPr>
            <a:r>
              <a:rPr sz="2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Digital credentials are difficult to verify, easy to tamper with, and often dependent on slow centralized processes.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1508760"/>
            <a:ext cx="5166360" cy="160020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1656176"/>
            <a:ext cx="502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8DCFF"/>
                </a:solidFill>
                <a:latin typeface="Aptos"/>
              </a:defRPr>
            </a:pPr>
            <a:r>
              <a:rPr sz="2000" dirty="0"/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1630417"/>
            <a:ext cx="39319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2F7FF"/>
                </a:solidFill>
                <a:latin typeface="Aptos"/>
              </a:defRPr>
            </a:pPr>
            <a:r>
              <a:rPr dirty="0">
                <a:solidFill>
                  <a:srgbClr val="92D050"/>
                </a:solidFill>
              </a:rPr>
              <a:t>Fake Credentials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2064645"/>
            <a:ext cx="39319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5B5CD"/>
                </a:solidFill>
                <a:latin typeface="Aptos"/>
              </a:defRPr>
            </a:pPr>
            <a:r>
              <a:rPr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Forged certificates are difficult to detect.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508760"/>
            <a:ext cx="5166360" cy="160020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1656176"/>
            <a:ext cx="502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8DCFF"/>
                </a:solidFill>
                <a:latin typeface="Aptos"/>
              </a:defRPr>
            </a:pPr>
            <a:r>
              <a:rPr sz="2000" dirty="0"/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1630417"/>
            <a:ext cx="39319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2F7FF"/>
                </a:solidFill>
                <a:latin typeface="Aptos"/>
              </a:defRPr>
            </a:pPr>
            <a:r>
              <a:rPr dirty="0">
                <a:solidFill>
                  <a:srgbClr val="92D050"/>
                </a:solidFill>
              </a:rPr>
              <a:t>Slow 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2064645"/>
            <a:ext cx="39319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5B5CD"/>
                </a:solidFill>
                <a:latin typeface="Aptos"/>
              </a:defRPr>
            </a:pPr>
            <a:r>
              <a:rPr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Manual checks consume time and resources</a:t>
            </a:r>
            <a:r>
              <a:rPr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3474720"/>
            <a:ext cx="5166360" cy="160020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3622137"/>
            <a:ext cx="502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8DCFF"/>
                </a:solidFill>
                <a:latin typeface="Aptos"/>
              </a:defRPr>
            </a:pPr>
            <a:r>
              <a:rPr sz="2000" dirty="0"/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3596378"/>
            <a:ext cx="39319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2F7FF"/>
                </a:solidFill>
                <a:latin typeface="Aptos"/>
              </a:defRPr>
            </a:pPr>
            <a:r>
              <a:rPr dirty="0">
                <a:solidFill>
                  <a:srgbClr val="92D050"/>
                </a:solidFill>
              </a:rPr>
              <a:t>Centralized Risk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4030605"/>
            <a:ext cx="39319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5B5CD"/>
                </a:solidFill>
                <a:latin typeface="Aptos"/>
              </a:defRPr>
            </a:pPr>
            <a:r>
              <a:rPr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Single systems create privacy and security exposure</a:t>
            </a:r>
            <a:r>
              <a:rPr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3474720"/>
            <a:ext cx="5166360" cy="160020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3622137"/>
            <a:ext cx="502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8DCFF"/>
                </a:solidFill>
                <a:latin typeface="Aptos"/>
              </a:defRPr>
            </a:pPr>
            <a:r>
              <a:rPr sz="2000" dirty="0"/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3596378"/>
            <a:ext cx="39319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F2F7FF"/>
                </a:solidFill>
                <a:latin typeface="Aptos"/>
              </a:defRPr>
            </a:pPr>
            <a:r>
              <a:rPr dirty="0">
                <a:solidFill>
                  <a:srgbClr val="92D050"/>
                </a:solidFill>
              </a:rPr>
              <a:t>Limited Control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4030606"/>
            <a:ext cx="39319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5B5CD"/>
                </a:solidFill>
                <a:latin typeface="Aptos"/>
              </a:defRPr>
            </a:pPr>
            <a:r>
              <a:rPr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Users often cannot control how credentials are shared.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64153" y="5154443"/>
            <a:ext cx="16459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875AFF"/>
                </a:solidFill>
                <a:latin typeface="Aptos"/>
              </a:defRPr>
            </a:pPr>
            <a:r>
              <a:rPr sz="2000" dirty="0"/>
              <a:t>KEY QUESTION</a:t>
            </a:r>
            <a:r>
              <a:rPr lang="en-US" sz="2000" dirty="0"/>
              <a:t>:</a:t>
            </a:r>
            <a:endParaRPr sz="2000" dirty="0"/>
          </a:p>
        </p:txBody>
      </p:sp>
      <p:sp>
        <p:nvSpPr>
          <p:cNvPr id="47" name="TextBox 46"/>
          <p:cNvSpPr txBox="1"/>
          <p:nvPr/>
        </p:nvSpPr>
        <p:spPr>
          <a:xfrm>
            <a:off x="2240280" y="5751785"/>
            <a:ext cx="841248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2F7FF"/>
                </a:solidFill>
                <a:latin typeface="Aptos"/>
              </a:defRPr>
            </a:pPr>
            <a:r>
              <a:rPr sz="2400" dirty="0">
                <a:solidFill>
                  <a:srgbClr val="00B0F0"/>
                </a:solidFill>
              </a:rPr>
              <a:t>How can identity verification become secure, privacy-preserving and tamper-resistant</a:t>
            </a:r>
            <a:r>
              <a:rPr dirty="0">
                <a:solidFill>
                  <a:srgbClr val="00B0F0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-1" y="3008193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87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-1188720" y="5120640"/>
            <a:ext cx="3291840" cy="3291840"/>
          </a:xfrm>
          <a:prstGeom prst="ellipse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A5B5CD"/>
                </a:solidFill>
                <a:latin typeface="Aptos"/>
              </a:defRPr>
            </a:pPr>
            <a:r>
              <a:t>SECUREID CHAIN  •  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" y="341114"/>
            <a:ext cx="10607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2F7FF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" y="940046"/>
            <a:ext cx="102412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5B5CD"/>
                </a:solidFill>
                <a:latin typeface="Aptos"/>
              </a:defRPr>
            </a:pPr>
            <a:r>
              <a:rPr sz="2000" dirty="0">
                <a:solidFill>
                  <a:srgbClr val="00B0F0"/>
                </a:solidFill>
              </a:rPr>
              <a:t>A trusted ecosystem where AI analyzes credentials and blockchain anchors a tamper-evident verification proof</a:t>
            </a:r>
            <a:r>
              <a:rPr sz="2000" dirty="0"/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2011680"/>
            <a:ext cx="1737360" cy="14173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88720" y="1627632"/>
            <a:ext cx="548640" cy="548640"/>
          </a:xfrm>
          <a:prstGeom prst="ellipse">
            <a:avLst/>
          </a:prstGeom>
          <a:solidFill>
            <a:srgbClr val="28DC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2331720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F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2633692"/>
            <a:ext cx="155448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A5B5CD"/>
                </a:solidFill>
                <a:latin typeface="Aptos"/>
              </a:defRPr>
            </a:pPr>
            <a:r>
              <a:rPr sz="1600" dirty="0">
                <a:solidFill>
                  <a:srgbClr val="FFFF00"/>
                </a:solidFill>
              </a:rPr>
              <a:t>Upload credential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331720" y="2724912"/>
            <a:ext cx="475488" cy="0"/>
          </a:xfrm>
          <a:prstGeom prst="line">
            <a:avLst/>
          </a:prstGeom>
          <a:ln w="25400">
            <a:solidFill>
              <a:srgbClr val="28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862072" y="2011680"/>
            <a:ext cx="1737360" cy="14173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456432" y="1627632"/>
            <a:ext cx="548640" cy="548640"/>
          </a:xfrm>
          <a:prstGeom prst="ellipse">
            <a:avLst/>
          </a:prstGeom>
          <a:solidFill>
            <a:srgbClr val="28DC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53512" y="2331720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F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53512" y="2633692"/>
            <a:ext cx="155448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A5B5CD"/>
                </a:solidFill>
                <a:latin typeface="Aptos"/>
              </a:defRPr>
            </a:pPr>
            <a:r>
              <a:rPr sz="1600" dirty="0">
                <a:solidFill>
                  <a:srgbClr val="FFFF00"/>
                </a:solidFill>
              </a:rPr>
              <a:t>Analyze &amp; score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99431" y="2724912"/>
            <a:ext cx="475489" cy="0"/>
          </a:xfrm>
          <a:prstGeom prst="line">
            <a:avLst/>
          </a:prstGeom>
          <a:ln w="25400">
            <a:solidFill>
              <a:srgbClr val="28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129784" y="2011680"/>
            <a:ext cx="1737360" cy="14173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724144" y="1627632"/>
            <a:ext cx="548640" cy="548640"/>
          </a:xfrm>
          <a:prstGeom prst="ellipse">
            <a:avLst/>
          </a:prstGeom>
          <a:solidFill>
            <a:srgbClr val="875A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21224" y="2331720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F"/>
                </a:solidFill>
                <a:latin typeface="Aptos"/>
              </a:defRPr>
            </a:pPr>
            <a:r>
              <a:t>HASH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21224" y="2756803"/>
            <a:ext cx="1554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A5B5CD"/>
                </a:solidFill>
                <a:latin typeface="Aptos"/>
              </a:defRPr>
            </a:pPr>
            <a:r>
              <a:rPr sz="1600" dirty="0">
                <a:solidFill>
                  <a:srgbClr val="FFFF00"/>
                </a:solidFill>
              </a:rPr>
              <a:t>Create proof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867144" y="2724912"/>
            <a:ext cx="475488" cy="0"/>
          </a:xfrm>
          <a:prstGeom prst="line">
            <a:avLst/>
          </a:prstGeom>
          <a:ln w="25400">
            <a:solidFill>
              <a:srgbClr val="28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397496" y="2011680"/>
            <a:ext cx="1737360" cy="14173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991856" y="1627632"/>
            <a:ext cx="548640" cy="548640"/>
          </a:xfrm>
          <a:prstGeom prst="ellipse">
            <a:avLst/>
          </a:prstGeom>
          <a:solidFill>
            <a:srgbClr val="875A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88936" y="2331720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F"/>
                </a:solidFill>
                <a:latin typeface="Aptos"/>
              </a:defRPr>
            </a:pPr>
            <a:r>
              <a:t>CHAIN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88936" y="2726025"/>
            <a:ext cx="15544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A5B5CD"/>
                </a:solidFill>
                <a:latin typeface="Aptos"/>
              </a:defRPr>
            </a:pPr>
            <a:r>
              <a:rPr sz="2000" dirty="0">
                <a:solidFill>
                  <a:srgbClr val="FFFF00"/>
                </a:solidFill>
              </a:rPr>
              <a:t>Register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134856" y="2724912"/>
            <a:ext cx="475488" cy="0"/>
          </a:xfrm>
          <a:prstGeom prst="line">
            <a:avLst/>
          </a:prstGeom>
          <a:ln w="25400">
            <a:solidFill>
              <a:srgbClr val="28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665208" y="2011680"/>
            <a:ext cx="1737360" cy="14173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3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0259568" y="1627632"/>
            <a:ext cx="548640" cy="548640"/>
          </a:xfrm>
          <a:prstGeom prst="ellipse">
            <a:avLst/>
          </a:prstGeom>
          <a:solidFill>
            <a:srgbClr val="875A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FF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756648" y="2331720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F"/>
                </a:solidFill>
                <a:latin typeface="Aptos"/>
              </a:defRPr>
            </a:pPr>
            <a:r>
              <a:t>QR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56648" y="2726025"/>
            <a:ext cx="15544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A5B5CD"/>
                </a:solidFill>
                <a:latin typeface="Aptos"/>
              </a:defRPr>
            </a:pPr>
            <a:r>
              <a:rPr sz="2000" dirty="0">
                <a:solidFill>
                  <a:srgbClr val="FFFF00"/>
                </a:solidFill>
              </a:rPr>
              <a:t>Verify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4806285"/>
            <a:ext cx="84124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2F7FF"/>
                </a:solidFill>
                <a:latin typeface="Aptos"/>
              </a:defRPr>
            </a:pPr>
            <a:r>
              <a:rPr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One platform • multiple issuers • independent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87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-1188720" y="5120640"/>
            <a:ext cx="3291840" cy="3291840"/>
          </a:xfrm>
          <a:prstGeom prst="ellipse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A5B5CD"/>
                </a:solidFill>
                <a:latin typeface="Aptos"/>
              </a:defRPr>
            </a:pPr>
            <a:r>
              <a:t>SECUREID CHAIN  •  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238" y="389620"/>
            <a:ext cx="10647500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2F7FF"/>
                </a:solidFill>
                <a:latin typeface="Aptos"/>
              </a:defRPr>
            </a:pPr>
            <a:r>
              <a:t>AI + Blockchain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5915" y="888081"/>
            <a:ext cx="102412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5B5CD"/>
                </a:solidFill>
                <a:latin typeface="Aptos"/>
              </a:defRPr>
            </a:pPr>
            <a:r>
              <a:rPr sz="2000" dirty="0">
                <a:solidFill>
                  <a:srgbClr val="00B0F0"/>
                </a:solidFill>
              </a:rPr>
              <a:t>AI provides intelligence. Blockchain provides trust. Digital identity gives the user control</a:t>
            </a:r>
            <a:r>
              <a:rPr sz="2000" dirty="0"/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1508760"/>
            <a:ext cx="5212080" cy="425196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63640" y="1508760"/>
            <a:ext cx="5212080" cy="425196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1757988"/>
            <a:ext cx="4572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28DCFF"/>
                </a:solidFill>
                <a:latin typeface="Aptos"/>
              </a:defRPr>
            </a:pPr>
            <a:r>
              <a:rPr sz="2400" dirty="0"/>
              <a:t>AI  / 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396841"/>
            <a:ext cx="44805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</a:t>
            </a:r>
            <a:r>
              <a:rPr dirty="0"/>
              <a:t>  </a:t>
            </a:r>
            <a:r>
              <a:rPr sz="2000" dirty="0"/>
              <a:t>OCR &amp; information extraction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3018633"/>
            <a:ext cx="44805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</a:t>
            </a:r>
            <a:r>
              <a:rPr dirty="0"/>
              <a:t>  </a:t>
            </a:r>
            <a:r>
              <a:rPr sz="2000" dirty="0"/>
              <a:t>Anomaly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3640425"/>
            <a:ext cx="44805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  Risk scoring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262217"/>
            <a:ext cx="44805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 </a:t>
            </a:r>
            <a:r>
              <a:rPr dirty="0"/>
              <a:t> </a:t>
            </a:r>
            <a:r>
              <a:rPr sz="2000" dirty="0"/>
              <a:t>Suspicious-document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1757988"/>
            <a:ext cx="4572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875AFF"/>
                </a:solidFill>
                <a:latin typeface="Aptos"/>
              </a:defRPr>
            </a:pPr>
            <a:r>
              <a:rPr sz="2400" dirty="0"/>
              <a:t>BLOCKCHAIN  /  TRUST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396841"/>
            <a:ext cx="44805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  Tamper-evident records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018633"/>
            <a:ext cx="44805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  Cryptographic verification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640425"/>
            <a:ext cx="44805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  Smart contracts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262217"/>
            <a:ext cx="44805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  Transparent audit trail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5811566"/>
            <a:ext cx="832104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A5B5CD"/>
                </a:solidFill>
                <a:latin typeface="Aptos"/>
              </a:defRPr>
            </a:pPr>
            <a:r>
              <a:rPr sz="2400" dirty="0">
                <a:solidFill>
                  <a:srgbClr val="FFFF00"/>
                </a:solidFill>
              </a:rPr>
              <a:t>AI detects suspicious information; blockchain anchors the trusted proof.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87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-1188720" y="5120640"/>
            <a:ext cx="3291840" cy="3291840"/>
          </a:xfrm>
          <a:prstGeom prst="ellipse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A5B5CD"/>
                </a:solidFill>
                <a:latin typeface="Aptos"/>
              </a:defRPr>
            </a:pPr>
            <a:r>
              <a:t>SECUREID CHAIN  •  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411" y="181051"/>
            <a:ext cx="10607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2F7FF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9411" y="683745"/>
            <a:ext cx="102412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5B5CD"/>
                </a:solidFill>
                <a:latin typeface="Aptos"/>
              </a:defRPr>
            </a:pPr>
            <a:r>
              <a:rPr sz="1600" dirty="0">
                <a:solidFill>
                  <a:srgbClr val="FFFF00"/>
                </a:solidFill>
              </a:rPr>
              <a:t>A privacy-aware flow from credential upload to AI analysis, smart contract registration and QR verification</a:t>
            </a:r>
            <a:r>
              <a:rPr dirty="0"/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3320" y="1143000"/>
            <a:ext cx="4754880" cy="566928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86200" y="1189833"/>
            <a:ext cx="43891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F"/>
                </a:solidFill>
                <a:latin typeface="Aptos"/>
              </a:defRPr>
            </a:pPr>
            <a:r>
              <a:rPr sz="2000" dirty="0"/>
              <a:t>USER / WEB APP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80760" y="1709928"/>
            <a:ext cx="0" cy="347472"/>
          </a:xfrm>
          <a:prstGeom prst="line">
            <a:avLst/>
          </a:prstGeom>
          <a:ln w="19050">
            <a:solidFill>
              <a:srgbClr val="A5B5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703320" y="2057400"/>
            <a:ext cx="4754880" cy="566928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86200" y="2104233"/>
            <a:ext cx="43891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F"/>
                </a:solidFill>
                <a:latin typeface="Aptos"/>
              </a:defRPr>
            </a:pPr>
            <a:r>
              <a:rPr sz="2000" dirty="0"/>
              <a:t>AI ENGINE + AUTH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80760" y="2624328"/>
            <a:ext cx="0" cy="347472"/>
          </a:xfrm>
          <a:prstGeom prst="line">
            <a:avLst/>
          </a:prstGeom>
          <a:ln w="19050">
            <a:solidFill>
              <a:srgbClr val="A5B5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703320" y="2971800"/>
            <a:ext cx="4754880" cy="566928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87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86200" y="3018633"/>
            <a:ext cx="43891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F"/>
                </a:solidFill>
                <a:latin typeface="Aptos"/>
              </a:defRPr>
            </a:pPr>
            <a:r>
              <a:rPr sz="2000" dirty="0"/>
              <a:t>CREDENTIAL HASH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80760" y="3538728"/>
            <a:ext cx="0" cy="347472"/>
          </a:xfrm>
          <a:prstGeom prst="line">
            <a:avLst/>
          </a:prstGeom>
          <a:ln w="19050">
            <a:solidFill>
              <a:srgbClr val="A5B5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703320" y="3886200"/>
            <a:ext cx="4754880" cy="566928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87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35578" y="3972695"/>
            <a:ext cx="43891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F"/>
                </a:solidFill>
                <a:latin typeface="Aptos"/>
              </a:defRPr>
            </a:pPr>
            <a:r>
              <a:rPr sz="2000" dirty="0"/>
              <a:t>SMART CONTRACT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80760" y="4453128"/>
            <a:ext cx="0" cy="347472"/>
          </a:xfrm>
          <a:prstGeom prst="line">
            <a:avLst/>
          </a:prstGeom>
          <a:ln w="19050">
            <a:solidFill>
              <a:srgbClr val="A5B5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703320" y="4800600"/>
            <a:ext cx="4754880" cy="566928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87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86200" y="4847433"/>
            <a:ext cx="43891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F"/>
                </a:solidFill>
                <a:latin typeface="Aptos"/>
              </a:defRPr>
            </a:pPr>
            <a:r>
              <a:rPr sz="2000" dirty="0"/>
              <a:t>BLOCKCHAIN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080760" y="5367528"/>
            <a:ext cx="0" cy="347472"/>
          </a:xfrm>
          <a:prstGeom prst="line">
            <a:avLst/>
          </a:prstGeom>
          <a:ln w="19050">
            <a:solidFill>
              <a:srgbClr val="A5B5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3700803" y="5607327"/>
            <a:ext cx="4754880" cy="566928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875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886200" y="5761833"/>
            <a:ext cx="43891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2F7FF"/>
                </a:solidFill>
                <a:latin typeface="Aptos"/>
              </a:defRPr>
            </a:pPr>
            <a:r>
              <a:rPr sz="2000" dirty="0"/>
              <a:t>QR VERIFICATION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08760" y="6194990"/>
            <a:ext cx="923544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A5B5CD"/>
                </a:solidFill>
                <a:latin typeface="Aptos"/>
              </a:defRPr>
            </a:pPr>
            <a:r>
              <a:rPr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Privacy rule: keep sensitive documents off-chain; store cryptographic proofs/hashes.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87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-1188720" y="5120640"/>
            <a:ext cx="3291840" cy="3291840"/>
          </a:xfrm>
          <a:prstGeom prst="ellipse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A5B5CD"/>
                </a:solidFill>
                <a:latin typeface="Aptos"/>
              </a:defRPr>
            </a:pPr>
            <a:r>
              <a:t>SECUREID CHAIN  •  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11480"/>
            <a:ext cx="10607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2F7FF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888081"/>
            <a:ext cx="102412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5B5CD"/>
                </a:solidFill>
                <a:latin typeface="Aptos"/>
              </a:defRPr>
            </a:pPr>
            <a:r>
              <a:rPr sz="2000" dirty="0">
                <a:solidFill>
                  <a:srgbClr val="00B0F0"/>
                </a:solidFill>
              </a:rPr>
              <a:t>A practical Web3 + AI stack designed for a hackathon-ready MVP</a:t>
            </a:r>
            <a:r>
              <a:rPr dirty="0"/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1508760"/>
            <a:ext cx="2560320" cy="14173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1" y="1602539"/>
            <a:ext cx="21945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8DCFF"/>
                </a:solidFill>
                <a:latin typeface="Aptos"/>
              </a:defRPr>
            </a:pPr>
            <a:r>
              <a:rPr sz="2400" dirty="0"/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" y="2103341"/>
            <a:ext cx="219456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F2F7FF"/>
                </a:solidFill>
                <a:latin typeface="Aptos"/>
              </a:defRPr>
            </a:pPr>
            <a:r>
              <a:rPr sz="1600" dirty="0"/>
              <a:t>HTML • CSS • JS / React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1508760"/>
            <a:ext cx="2560320" cy="14173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39312" y="1602539"/>
            <a:ext cx="21945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875AFF"/>
                </a:solidFill>
                <a:latin typeface="Aptos"/>
              </a:defRPr>
            </a:pPr>
            <a:r>
              <a:rPr sz="2400" dirty="0"/>
              <a:t>Backend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9312" y="2103341"/>
            <a:ext cx="219456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F2F7FF"/>
                </a:solidFill>
                <a:latin typeface="Aptos"/>
              </a:defRPr>
            </a:pPr>
            <a:r>
              <a:rPr sz="1600" dirty="0"/>
              <a:t>Python • Flask / Fast</a:t>
            </a:r>
            <a:r>
              <a:rPr lang="en-US" sz="1600" dirty="0"/>
              <a:t> </a:t>
            </a:r>
            <a:r>
              <a:rPr sz="1600" dirty="0"/>
              <a:t>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1508760"/>
            <a:ext cx="2560320" cy="14173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8115" y="1593396"/>
            <a:ext cx="21945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8DCFF"/>
                </a:solidFill>
                <a:latin typeface="Aptos"/>
              </a:defRPr>
            </a:pPr>
            <a:r>
              <a:rPr sz="2400" dirty="0"/>
              <a:t>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2226451"/>
            <a:ext cx="21945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F2F7FF"/>
                </a:solidFill>
                <a:latin typeface="Aptos"/>
              </a:defRPr>
            </a:pPr>
            <a:r>
              <a:rPr sz="1600" dirty="0"/>
              <a:t>OCR • OpenCV • ML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1508760"/>
            <a:ext cx="2560320" cy="14173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08592" y="1602539"/>
            <a:ext cx="21945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875AFF"/>
                </a:solidFill>
                <a:latin typeface="Aptos"/>
              </a:defRPr>
            </a:pPr>
            <a:r>
              <a:rPr sz="2400" dirty="0"/>
              <a:t>Blockchain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08592" y="2130552"/>
            <a:ext cx="2194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F2F7FF"/>
                </a:solidFill>
                <a:latin typeface="Aptos"/>
              </a:defRPr>
            </a:pPr>
            <a:r>
              <a:rPr sz="1400" dirty="0"/>
              <a:t>Ethereum / Polygon</a:t>
            </a:r>
            <a:r>
              <a:rPr lang="en-US" sz="1400" dirty="0"/>
              <a:t> </a:t>
            </a:r>
            <a:r>
              <a:rPr sz="1400" dirty="0" err="1"/>
              <a:t>Testne</a:t>
            </a:r>
            <a:r>
              <a:rPr lang="en-US" sz="1400" dirty="0" err="1"/>
              <a:t>t</a:t>
            </a:r>
            <a:endParaRPr sz="1400" dirty="0"/>
          </a:p>
        </p:txBody>
      </p:sp>
      <p:sp>
        <p:nvSpPr>
          <p:cNvPr id="42" name="Rounded Rectangle 41"/>
          <p:cNvSpPr/>
          <p:nvPr/>
        </p:nvSpPr>
        <p:spPr>
          <a:xfrm>
            <a:off x="640080" y="3474720"/>
            <a:ext cx="2560320" cy="14173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4671" y="3568500"/>
            <a:ext cx="21945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8DCFF"/>
                </a:solidFill>
                <a:latin typeface="Aptos"/>
              </a:defRPr>
            </a:pPr>
            <a:r>
              <a:rPr sz="2400" dirty="0"/>
              <a:t>Web3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1" y="4192410"/>
            <a:ext cx="21945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F2F7FF"/>
                </a:solidFill>
                <a:latin typeface="Aptos"/>
              </a:defRPr>
            </a:pPr>
            <a:r>
              <a:rPr sz="1600" dirty="0"/>
              <a:t>Solidity • Ethers.js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74720" y="3474720"/>
            <a:ext cx="2560320" cy="14173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39312" y="3568500"/>
            <a:ext cx="21945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875AFF"/>
                </a:solidFill>
                <a:latin typeface="Aptos"/>
              </a:defRPr>
            </a:pPr>
            <a:r>
              <a:rPr sz="2400" dirty="0"/>
              <a:t>Security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39312" y="4192410"/>
            <a:ext cx="21945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F2F7FF"/>
                </a:solidFill>
                <a:latin typeface="Aptos"/>
              </a:defRPr>
            </a:pPr>
            <a:r>
              <a:rPr sz="1600" dirty="0"/>
              <a:t>SHA-256 • signatures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3474720"/>
            <a:ext cx="2560320" cy="14173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73952" y="3568500"/>
            <a:ext cx="21945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8DCFF"/>
                </a:solidFill>
                <a:latin typeface="Aptos"/>
              </a:defRPr>
            </a:pPr>
            <a:r>
              <a:rPr sz="2400" dirty="0"/>
              <a:t>Storage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3952" y="4192410"/>
            <a:ext cx="21945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F2F7FF"/>
                </a:solidFill>
                <a:latin typeface="Aptos"/>
              </a:defRPr>
            </a:pPr>
            <a:r>
              <a:rPr sz="1600" dirty="0"/>
              <a:t>IPFS / secure off-chain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3474720"/>
            <a:ext cx="2560320" cy="14173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308592" y="3568500"/>
            <a:ext cx="21945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875AFF"/>
                </a:solidFill>
                <a:latin typeface="Aptos"/>
              </a:defRPr>
            </a:pPr>
            <a:r>
              <a:rPr sz="2400" dirty="0"/>
              <a:t>QR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08592" y="4192410"/>
            <a:ext cx="21945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F2F7FF"/>
                </a:solidFill>
                <a:latin typeface="Aptos"/>
              </a:defRPr>
            </a:pPr>
            <a:r>
              <a:rPr sz="1600" dirty="0"/>
              <a:t>Generator • scanner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94560" y="5550962"/>
            <a:ext cx="777240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A5B5CD"/>
                </a:solidFill>
                <a:latin typeface="Aptos"/>
              </a:defRPr>
            </a:pPr>
            <a:r>
              <a:rPr sz="2400" dirty="0">
                <a:solidFill>
                  <a:srgbClr val="FFC000"/>
                </a:solidFill>
              </a:rPr>
              <a:t>Use only technologies actually implemented in the final prototype.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141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875520" y="-1097280"/>
            <a:ext cx="3657600" cy="3657600"/>
          </a:xfrm>
          <a:prstGeom prst="ellipse">
            <a:avLst/>
          </a:prstGeom>
          <a:solidFill>
            <a:srgbClr val="8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-1097280" y="5212080"/>
            <a:ext cx="2926080" cy="2926080"/>
          </a:xfrm>
          <a:prstGeom prst="ellipse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347472"/>
            <a:ext cx="4572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F2F7FF"/>
                </a:solidFill>
                <a:latin typeface="Aptos"/>
              </a:defRPr>
            </a:pPr>
            <a:r>
              <a:t>WORKING PROTOTYPE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745123"/>
            <a:ext cx="59436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AABC6"/>
                </a:solidFill>
                <a:latin typeface="Aptos"/>
              </a:defRPr>
            </a:pPr>
            <a:r>
              <a:rPr sz="1600" dirty="0">
                <a:solidFill>
                  <a:srgbClr val="00B0F0"/>
                </a:solidFill>
              </a:rPr>
              <a:t>End-to-end credential verification 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75488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28DCFF"/>
                </a:solidFill>
                <a:latin typeface="Aptos"/>
              </a:defRPr>
            </a:pPr>
            <a:r>
              <a:t>LIVE MVP FLOW  •  4 CORE SCREENS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1143000"/>
            <a:ext cx="2578608" cy="420624"/>
          </a:xfrm>
          <a:prstGeom prst="roundRect">
            <a:avLst/>
          </a:prstGeom>
          <a:solidFill>
            <a:srgbClr val="121B34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" y="1159949"/>
            <a:ext cx="34747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8DCFF"/>
                </a:solidFill>
                <a:latin typeface="Aptos"/>
              </a:defRPr>
            </a:pPr>
            <a:r>
              <a:rPr sz="1200" dirty="0"/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1129171"/>
            <a:ext cx="1874519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F2F7FF"/>
                </a:solidFill>
                <a:latin typeface="Aptos"/>
              </a:defRPr>
            </a:pPr>
            <a:r>
              <a:rPr sz="1600" dirty="0"/>
              <a:t>LOGIN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236976" y="1353312"/>
            <a:ext cx="256032" cy="0"/>
          </a:xfrm>
          <a:prstGeom prst="line">
            <a:avLst/>
          </a:prstGeom>
          <a:ln w="19050">
            <a:solidFill>
              <a:srgbClr val="9AA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511296" y="1143000"/>
            <a:ext cx="2578608" cy="420624"/>
          </a:xfrm>
          <a:prstGeom prst="roundRect">
            <a:avLst/>
          </a:prstGeom>
          <a:solidFill>
            <a:srgbClr val="121B34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21024" y="1167643"/>
            <a:ext cx="347472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8E5BFF"/>
                </a:solidFill>
                <a:latin typeface="Aptos"/>
              </a:defRPr>
            </a:pPr>
            <a:r>
              <a:rPr sz="1100" dirty="0"/>
              <a:t>0</a:t>
            </a:r>
            <a:r>
              <a:rPr dirty="0"/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1129171"/>
            <a:ext cx="1874519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F2F7FF"/>
                </a:solidFill>
                <a:latin typeface="Aptos"/>
              </a:defRPr>
            </a:pPr>
            <a:r>
              <a:rPr sz="1600" dirty="0"/>
              <a:t>DASHBOARD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89904" y="1353312"/>
            <a:ext cx="256032" cy="0"/>
          </a:xfrm>
          <a:prstGeom prst="line">
            <a:avLst/>
          </a:prstGeom>
          <a:ln w="19050">
            <a:solidFill>
              <a:srgbClr val="9AA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364224" y="1143000"/>
            <a:ext cx="2578608" cy="420624"/>
          </a:xfrm>
          <a:prstGeom prst="roundRect">
            <a:avLst/>
          </a:prstGeom>
          <a:solidFill>
            <a:srgbClr val="121B34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73952" y="1159949"/>
            <a:ext cx="34747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8E5BFF"/>
                </a:solidFill>
                <a:latin typeface="Aptos"/>
              </a:defRPr>
            </a:pPr>
            <a:r>
              <a:rPr sz="1200" dirty="0"/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6288" y="1129171"/>
            <a:ext cx="1874519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F2F7FF"/>
                </a:solidFill>
                <a:latin typeface="Aptos"/>
              </a:defRPr>
            </a:pPr>
            <a:r>
              <a:rPr sz="1600" dirty="0"/>
              <a:t>UPLOAD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942832" y="1353312"/>
            <a:ext cx="256032" cy="0"/>
          </a:xfrm>
          <a:prstGeom prst="line">
            <a:avLst/>
          </a:prstGeom>
          <a:ln w="19050">
            <a:solidFill>
              <a:srgbClr val="9AAB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17152" y="1143000"/>
            <a:ext cx="2578608" cy="420624"/>
          </a:xfrm>
          <a:prstGeom prst="roundRect">
            <a:avLst/>
          </a:prstGeom>
          <a:solidFill>
            <a:srgbClr val="121B34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0" y="1159949"/>
            <a:ext cx="34747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28DCFF"/>
                </a:solidFill>
                <a:latin typeface="Aptos"/>
              </a:defRPr>
            </a:pPr>
            <a:r>
              <a:rPr sz="1200" dirty="0"/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29216" y="1129171"/>
            <a:ext cx="1874519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F2F7FF"/>
                </a:solidFill>
                <a:latin typeface="Aptos"/>
              </a:defRPr>
            </a:pPr>
            <a:r>
              <a:rPr sz="1600" dirty="0"/>
              <a:t>AI ANALYSIS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1783080"/>
            <a:ext cx="2514600" cy="4069080"/>
          </a:xfrm>
          <a:prstGeom prst="roundRect">
            <a:avLst/>
          </a:prstGeom>
          <a:solidFill>
            <a:srgbClr val="090E1E"/>
          </a:solidFill>
          <a:ln w="12700">
            <a:solidFill>
              <a:srgbClr val="2D3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68096" y="1901952"/>
            <a:ext cx="2295144" cy="347472"/>
          </a:xfrm>
          <a:prstGeom prst="roundRect">
            <a:avLst/>
          </a:prstGeom>
          <a:solidFill>
            <a:srgbClr val="121B34"/>
          </a:solidFill>
          <a:ln w="12700">
            <a:solidFill>
              <a:srgbClr val="2D3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9536" y="1965960"/>
            <a:ext cx="457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9AABC6"/>
                </a:solidFill>
                <a:latin typeface="Aptos"/>
              </a:defRPr>
            </a:pPr>
            <a:r>
              <a:t>●  ●  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35607" y="1965960"/>
            <a:ext cx="1417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F2F7FF"/>
                </a:solidFill>
                <a:latin typeface="Aptos"/>
              </a:defRPr>
            </a:pPr>
            <a:r>
              <a:t>SECUREID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251460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2F7FF"/>
                </a:solidFill>
                <a:latin typeface="Aptos"/>
              </a:defRPr>
            </a:pPr>
            <a:r>
              <a:t>SECUREID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2770632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8DCFF"/>
                </a:solidFill>
                <a:latin typeface="Aptos"/>
              </a:defRPr>
            </a:pPr>
            <a:r>
              <a:t>CHAIN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2908013"/>
            <a:ext cx="201168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9AABC6"/>
                </a:solidFill>
                <a:latin typeface="Aptos"/>
              </a:defRPr>
            </a:pPr>
            <a:r>
              <a:rPr sz="1600" dirty="0">
                <a:solidFill>
                  <a:srgbClr val="FFFF00"/>
                </a:solidFill>
              </a:rPr>
              <a:t>Secure identity access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3493008"/>
            <a:ext cx="19202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AABC6"/>
                </a:solidFill>
                <a:latin typeface="Aptos"/>
              </a:defRPr>
            </a:pPr>
            <a:r>
              <a:t>Email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4400" y="3703320"/>
            <a:ext cx="1993392" cy="384048"/>
          </a:xfrm>
          <a:prstGeom prst="roundRect">
            <a:avLst/>
          </a:prstGeom>
          <a:solidFill>
            <a:srgbClr val="121B34"/>
          </a:solidFill>
          <a:ln w="12700">
            <a:solidFill>
              <a:srgbClr val="2D3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24128" y="3758184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9AABC6"/>
                </a:solidFill>
                <a:latin typeface="Aptos"/>
              </a:defRPr>
            </a:pPr>
            <a:r>
              <a:t>user@example.com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4251960"/>
            <a:ext cx="19202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AABC6"/>
                </a:solidFill>
                <a:latin typeface="Aptos"/>
              </a:defRPr>
            </a:pPr>
            <a:r>
              <a:t>Password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4400" y="4462272"/>
            <a:ext cx="1993392" cy="384048"/>
          </a:xfrm>
          <a:prstGeom prst="roundRect">
            <a:avLst/>
          </a:prstGeom>
          <a:solidFill>
            <a:srgbClr val="121B34"/>
          </a:solidFill>
          <a:ln w="12700">
            <a:solidFill>
              <a:srgbClr val="2D3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24128" y="4517136"/>
            <a:ext cx="17830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F2F7FF"/>
                </a:solidFill>
                <a:latin typeface="Aptos"/>
              </a:defRPr>
            </a:pPr>
            <a:r>
              <a:t>••••••••••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4400" y="5047488"/>
            <a:ext cx="1993392" cy="393192"/>
          </a:xfrm>
          <a:prstGeom prst="roundRect">
            <a:avLst/>
          </a:prstGeom>
          <a:solidFill>
            <a:srgbClr val="28DCFF"/>
          </a:solidFill>
          <a:ln w="12700">
            <a:solidFill>
              <a:srgbClr val="2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4400" y="5093208"/>
            <a:ext cx="19933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050814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5532120"/>
            <a:ext cx="199339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8DCFF"/>
                </a:solidFill>
                <a:latin typeface="Aptos"/>
              </a:defRPr>
            </a:pPr>
            <a:r>
              <a:t>Create new account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01568" y="1783080"/>
            <a:ext cx="2514600" cy="4069080"/>
          </a:xfrm>
          <a:prstGeom prst="roundRect">
            <a:avLst/>
          </a:prstGeom>
          <a:solidFill>
            <a:srgbClr val="090E1E"/>
          </a:solidFill>
          <a:ln w="12700">
            <a:solidFill>
              <a:srgbClr val="2D3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3511296" y="1901952"/>
            <a:ext cx="2295144" cy="347472"/>
          </a:xfrm>
          <a:prstGeom prst="roundRect">
            <a:avLst/>
          </a:prstGeom>
          <a:solidFill>
            <a:srgbClr val="121B34"/>
          </a:solidFill>
          <a:ln w="12700">
            <a:solidFill>
              <a:srgbClr val="2D3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602736" y="1965960"/>
            <a:ext cx="457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9AABC6"/>
                </a:solidFill>
                <a:latin typeface="Aptos"/>
              </a:defRPr>
            </a:pPr>
            <a:r>
              <a:t>●  ●  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78808" y="1965960"/>
            <a:ext cx="1417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F2F7FF"/>
                </a:solidFill>
                <a:latin typeface="Aptos"/>
              </a:defRPr>
            </a:pPr>
            <a:r>
              <a:t>SECUREID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0" y="2423160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2F7FF"/>
                </a:solidFill>
                <a:latin typeface="Aptos"/>
              </a:defRPr>
            </a:pPr>
            <a:r>
              <a:t>Welcome, User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0" y="2699040"/>
            <a:ext cx="19202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9AABC6"/>
                </a:solidFill>
                <a:latin typeface="Aptos"/>
              </a:defRPr>
            </a:pPr>
            <a:r>
              <a:rPr sz="1400" dirty="0">
                <a:solidFill>
                  <a:srgbClr val="FFFF00"/>
                </a:solidFill>
              </a:rPr>
              <a:t>Identity Health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657600" y="3035808"/>
            <a:ext cx="1993392" cy="566928"/>
          </a:xfrm>
          <a:prstGeom prst="roundRect">
            <a:avLst/>
          </a:prstGeom>
          <a:solidFill>
            <a:srgbClr val="121B34"/>
          </a:solidFill>
          <a:ln w="12700">
            <a:solidFill>
              <a:srgbClr val="2D3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785616" y="3172968"/>
            <a:ext cx="1691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FE5A3"/>
                </a:solidFill>
                <a:latin typeface="Aptos"/>
              </a:defRPr>
            </a:pPr>
            <a:r>
              <a:t>● VERIFIED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0" y="3822191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2F7FF"/>
                </a:solidFill>
                <a:latin typeface="Aptos"/>
              </a:defRPr>
            </a:pPr>
            <a:r>
              <a:t>My Credentials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657600" y="4133087"/>
            <a:ext cx="1993392" cy="320040"/>
          </a:xfrm>
          <a:prstGeom prst="roundRect">
            <a:avLst/>
          </a:prstGeom>
          <a:solidFill>
            <a:srgbClr val="121B34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767328" y="4197096"/>
            <a:ext cx="16459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3FE5A3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68496" y="4187952"/>
            <a:ext cx="148132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F2F7FF"/>
                </a:solidFill>
                <a:latin typeface="Aptos"/>
              </a:defRPr>
            </a:pPr>
            <a:r>
              <a:t>Diploma Certificate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657600" y="4572000"/>
            <a:ext cx="1993392" cy="320040"/>
          </a:xfrm>
          <a:prstGeom prst="roundRect">
            <a:avLst/>
          </a:prstGeom>
          <a:solidFill>
            <a:srgbClr val="121B34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767328" y="4636008"/>
            <a:ext cx="16459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3FE5A3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68496" y="4626864"/>
            <a:ext cx="148132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F2F7FF"/>
                </a:solidFill>
                <a:latin typeface="Aptos"/>
              </a:defRPr>
            </a:pPr>
            <a:r>
              <a:t>Professional Certificate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657600" y="5166360"/>
            <a:ext cx="941832" cy="384048"/>
          </a:xfrm>
          <a:prstGeom prst="roundRect">
            <a:avLst/>
          </a:prstGeom>
          <a:solidFill>
            <a:srgbClr val="28DCFF"/>
          </a:solidFill>
          <a:ln w="12700">
            <a:solidFill>
              <a:srgbClr val="2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657600" y="5212080"/>
            <a:ext cx="94183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050814"/>
                </a:solidFill>
                <a:latin typeface="Aptos"/>
              </a:defRPr>
            </a:pPr>
            <a:r>
              <a:t>UPLOAD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709160" y="5166360"/>
            <a:ext cx="941832" cy="384048"/>
          </a:xfrm>
          <a:prstGeom prst="roundRect">
            <a:avLst/>
          </a:prstGeom>
          <a:solidFill>
            <a:srgbClr val="121B34"/>
          </a:solidFill>
          <a:ln w="12700">
            <a:solidFill>
              <a:srgbClr val="8E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709160" y="5212080"/>
            <a:ext cx="94183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F2F7FF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144768" y="1783080"/>
            <a:ext cx="2514600" cy="4069080"/>
          </a:xfrm>
          <a:prstGeom prst="roundRect">
            <a:avLst/>
          </a:prstGeom>
          <a:solidFill>
            <a:srgbClr val="090E1E"/>
          </a:solidFill>
          <a:ln w="12700">
            <a:solidFill>
              <a:srgbClr val="2D3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6254496" y="1901952"/>
            <a:ext cx="2295144" cy="347472"/>
          </a:xfrm>
          <a:prstGeom prst="roundRect">
            <a:avLst/>
          </a:prstGeom>
          <a:solidFill>
            <a:srgbClr val="121B34"/>
          </a:solidFill>
          <a:ln w="12700">
            <a:solidFill>
              <a:srgbClr val="2D3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345936" y="1965960"/>
            <a:ext cx="457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9AABC6"/>
                </a:solidFill>
                <a:latin typeface="Aptos"/>
              </a:defRPr>
            </a:pPr>
            <a:r>
              <a:t>●  ●  ●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22007" y="1965960"/>
            <a:ext cx="1417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F2F7FF"/>
                </a:solidFill>
                <a:latin typeface="Aptos"/>
              </a:defRPr>
            </a:pPr>
            <a:r>
              <a:t>SECUREID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0" y="2450592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2F7FF"/>
                </a:solidFill>
                <a:latin typeface="Aptos"/>
              </a:defRPr>
            </a:pPr>
            <a:r>
              <a:t>Upload Credential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42862" y="2723573"/>
            <a:ext cx="20116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9AABC6"/>
                </a:solidFill>
                <a:latin typeface="Aptos"/>
              </a:defRPr>
            </a:pPr>
            <a:r>
              <a:rPr sz="1200" dirty="0">
                <a:solidFill>
                  <a:srgbClr val="FFFF00"/>
                </a:solidFill>
              </a:rPr>
              <a:t>Create a verifiable proof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400800" y="3154680"/>
            <a:ext cx="1993392" cy="1024128"/>
          </a:xfrm>
          <a:prstGeom prst="roundRect">
            <a:avLst/>
          </a:prstGeom>
          <a:solidFill>
            <a:srgbClr val="121B34"/>
          </a:solidFill>
          <a:ln w="12700">
            <a:solidFill>
              <a:srgbClr val="2D3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400800" y="3337560"/>
            <a:ext cx="19933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8DCFF"/>
                </a:solidFill>
                <a:latin typeface="Aptos"/>
              </a:defRPr>
            </a:pPr>
            <a:r>
              <a:t>↑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92240" y="3703320"/>
            <a:ext cx="181051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2F7FF"/>
                </a:solidFill>
                <a:latin typeface="Aptos"/>
              </a:defRPr>
            </a:pPr>
            <a:r>
              <a:t>Drop PDF / image here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92240" y="3904487"/>
            <a:ext cx="181051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>
                <a:solidFill>
                  <a:srgbClr val="9AABC6"/>
                </a:solidFill>
                <a:latin typeface="Aptos"/>
              </a:defRPr>
            </a:pPr>
            <a:r>
              <a:t>or choose a file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00800" y="4434840"/>
            <a:ext cx="19202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AABC6"/>
                </a:solidFill>
                <a:latin typeface="Aptos"/>
              </a:defRPr>
            </a:pPr>
            <a:r>
              <a:t>Document type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400800" y="4645152"/>
            <a:ext cx="1993392" cy="365760"/>
          </a:xfrm>
          <a:prstGeom prst="roundRect">
            <a:avLst/>
          </a:prstGeom>
          <a:solidFill>
            <a:srgbClr val="121B34"/>
          </a:solidFill>
          <a:ln w="12700">
            <a:solidFill>
              <a:srgbClr val="2D3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510528" y="4709160"/>
            <a:ext cx="1783080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F2F7FF"/>
                </a:solidFill>
                <a:latin typeface="Aptos"/>
              </a:defRPr>
            </a:pPr>
            <a:r>
              <a:t>Educational Certificate  ▾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400800" y="5212080"/>
            <a:ext cx="1993392" cy="393192"/>
          </a:xfrm>
          <a:prstGeom prst="roundRect">
            <a:avLst/>
          </a:prstGeom>
          <a:solidFill>
            <a:srgbClr val="28DCFF"/>
          </a:solidFill>
          <a:ln w="12700">
            <a:solidFill>
              <a:srgbClr val="28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400800" y="5266944"/>
            <a:ext cx="199339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050814"/>
                </a:solidFill>
                <a:latin typeface="Aptos"/>
              </a:defRPr>
            </a:pPr>
            <a:r>
              <a:t>ANALYZE WITH AI  →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887968" y="1783080"/>
            <a:ext cx="2514600" cy="4069080"/>
          </a:xfrm>
          <a:prstGeom prst="roundRect">
            <a:avLst/>
          </a:prstGeom>
          <a:solidFill>
            <a:srgbClr val="090E1E"/>
          </a:solidFill>
          <a:ln w="12700">
            <a:solidFill>
              <a:srgbClr val="2D3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8997696" y="1901952"/>
            <a:ext cx="2295144" cy="347472"/>
          </a:xfrm>
          <a:prstGeom prst="roundRect">
            <a:avLst/>
          </a:prstGeom>
          <a:solidFill>
            <a:srgbClr val="121B34"/>
          </a:solidFill>
          <a:ln w="12700">
            <a:solidFill>
              <a:srgbClr val="2D3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089136" y="1965960"/>
            <a:ext cx="4572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9AABC6"/>
                </a:solidFill>
                <a:latin typeface="Aptos"/>
              </a:defRPr>
            </a:pPr>
            <a:r>
              <a:t>●  ●  ●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665208" y="1965960"/>
            <a:ext cx="1417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F2F7FF"/>
                </a:solidFill>
                <a:latin typeface="Aptos"/>
              </a:defRPr>
            </a:pPr>
            <a:r>
              <a:t>SECUREID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44000" y="2404872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2F7FF"/>
                </a:solidFill>
                <a:latin typeface="Aptos"/>
              </a:defRPr>
            </a:pPr>
            <a:r>
              <a:t>AI ANALYSIS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144000" y="2647075"/>
            <a:ext cx="20116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9AABC6"/>
                </a:solidFill>
                <a:latin typeface="Aptos"/>
              </a:defRPr>
            </a:pPr>
            <a:r>
              <a:rPr sz="1600" dirty="0">
                <a:solidFill>
                  <a:srgbClr val="FFFF00"/>
                </a:solidFill>
              </a:rPr>
              <a:t>Diploma.pdf</a:t>
            </a:r>
          </a:p>
        </p:txBody>
      </p:sp>
      <p:sp>
        <p:nvSpPr>
          <p:cNvPr id="101" name="Oval 100"/>
          <p:cNvSpPr/>
          <p:nvPr/>
        </p:nvSpPr>
        <p:spPr>
          <a:xfrm>
            <a:off x="9546336" y="3063240"/>
            <a:ext cx="1170432" cy="1170432"/>
          </a:xfrm>
          <a:prstGeom prst="ellipse">
            <a:avLst/>
          </a:prstGeom>
          <a:solidFill>
            <a:srgbClr val="14262B"/>
          </a:solidFill>
          <a:ln w="38100">
            <a:solidFill>
              <a:srgbClr val="3F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546336" y="3410712"/>
            <a:ext cx="117043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FE5A3"/>
                </a:solidFill>
                <a:latin typeface="Aptos"/>
              </a:defRPr>
            </a:pPr>
            <a:r>
              <a:t>94%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46336" y="3730752"/>
            <a:ext cx="117043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00" b="1">
                <a:solidFill>
                  <a:srgbClr val="9AABC6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0" y="4315968"/>
            <a:ext cx="16459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3FE5A3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345168" y="4297680"/>
            <a:ext cx="1783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F2F7FF"/>
                </a:solidFill>
                <a:latin typeface="Aptos"/>
              </a:defRPr>
            </a:pPr>
            <a:r>
              <a:t>Required fields detected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44000" y="4636007"/>
            <a:ext cx="16459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3FE5A3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345168" y="4617720"/>
            <a:ext cx="1783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F2F7FF"/>
                </a:solidFill>
                <a:latin typeface="Aptos"/>
              </a:defRPr>
            </a:pPr>
            <a:r>
              <a:t>Text extracted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44000" y="4956048"/>
            <a:ext cx="16459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3FE5A3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345168" y="4937760"/>
            <a:ext cx="1783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F2F7FF"/>
                </a:solidFill>
                <a:latin typeface="Aptos"/>
              </a:defRPr>
            </a:pPr>
            <a:r>
              <a:t>No major inconsistencies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144000" y="5285232"/>
            <a:ext cx="1993392" cy="365760"/>
          </a:xfrm>
          <a:prstGeom prst="roundRect">
            <a:avLst/>
          </a:prstGeom>
          <a:solidFill>
            <a:srgbClr val="121B34"/>
          </a:solidFill>
          <a:ln w="12700">
            <a:solidFill>
              <a:srgbClr val="3F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144000" y="5349240"/>
            <a:ext cx="199339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3FE5A3"/>
                </a:solidFill>
                <a:latin typeface="Aptos"/>
              </a:defRPr>
            </a:pPr>
            <a:r>
              <a:t>RISK  •  LOW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144000" y="5715000"/>
            <a:ext cx="1993392" cy="393192"/>
          </a:xfrm>
          <a:prstGeom prst="roundRect">
            <a:avLst/>
          </a:prstGeom>
          <a:solidFill>
            <a:srgbClr val="8E5BFF"/>
          </a:solidFill>
          <a:ln w="12700">
            <a:solidFill>
              <a:srgbClr val="8E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144000" y="5769864"/>
            <a:ext cx="199339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00" b="1">
                <a:solidFill>
                  <a:srgbClr val="F2F7FF"/>
                </a:solidFill>
                <a:latin typeface="Aptos"/>
              </a:defRPr>
            </a:pPr>
            <a:r>
              <a:t>REGISTER ON BLOCKCHAIN  →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58368" y="6144768"/>
            <a:ext cx="10744200" cy="320040"/>
          </a:xfrm>
          <a:prstGeom prst="roundRect">
            <a:avLst/>
          </a:prstGeom>
          <a:solidFill>
            <a:srgbClr val="0B1224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68680" y="6199632"/>
            <a:ext cx="9144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28DCFF"/>
                </a:solidFill>
                <a:latin typeface="Aptos"/>
              </a:defRPr>
            </a:pPr>
            <a:r>
              <a:t>AI SCORE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737360" y="6181344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2F7FF"/>
                </a:solidFill>
                <a:latin typeface="Aptos"/>
              </a:defRPr>
            </a:pPr>
            <a:r>
              <a:t>94%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743200" y="6199632"/>
            <a:ext cx="548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8E5BFF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10128" y="6181344"/>
            <a:ext cx="502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3FE5A3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2000" y="619963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9AABC6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38928" y="6181344"/>
            <a:ext cx="1920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F2F7FF"/>
                </a:solidFill>
                <a:latin typeface="Aptos"/>
              </a:defRPr>
            </a:pPr>
            <a:r>
              <a:t>BLOCKCHAIN REGISTRATION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498079" y="6181344"/>
            <a:ext cx="3611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9AABC6"/>
                </a:solidFill>
                <a:latin typeface="Aptos"/>
              </a:defRPr>
            </a:pPr>
            <a:r>
              <a:t>Prototype UI mockups — replace with actual screenshots for final submission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87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-1188720" y="5120640"/>
            <a:ext cx="3291840" cy="3291840"/>
          </a:xfrm>
          <a:prstGeom prst="ellipse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A5B5CD"/>
                </a:solidFill>
                <a:latin typeface="Aptos"/>
              </a:defRPr>
            </a:pPr>
            <a:r>
              <a:t>SECUREID CHAIN  •  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91363"/>
            <a:ext cx="10607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2F7FF"/>
                </a:solidFill>
                <a:latin typeface="Aptos"/>
              </a:defRPr>
            </a:pPr>
            <a:r>
              <a:t>Blockchain &amp; QR 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454" y="888081"/>
            <a:ext cx="102412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5B5CD"/>
                </a:solidFill>
                <a:latin typeface="Aptos"/>
              </a:defRPr>
            </a:pPr>
            <a:r>
              <a:rPr sz="2000" dirty="0">
                <a:solidFill>
                  <a:srgbClr val="FFFF00"/>
                </a:solidFill>
              </a:rPr>
              <a:t>Turn a credential into a verifiable proof that can be checked in seconds.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2057400"/>
            <a:ext cx="868680" cy="868680"/>
          </a:xfrm>
          <a:prstGeom prst="ellipse">
            <a:avLst/>
          </a:prstGeom>
          <a:solidFill>
            <a:srgbClr val="28DC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3191143"/>
            <a:ext cx="15087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F"/>
                </a:solidFill>
                <a:latin typeface="Aptos"/>
              </a:defRPr>
            </a:pPr>
            <a:r>
              <a:rPr sz="1600" dirty="0"/>
              <a:t>CERTIFICATE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554480" y="2496312"/>
            <a:ext cx="25400" cy="0"/>
          </a:xfrm>
          <a:prstGeom prst="line">
            <a:avLst/>
          </a:prstGeom>
          <a:ln>
            <a:solidFill>
              <a:srgbClr val="28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788920" y="2057400"/>
            <a:ext cx="868680" cy="868680"/>
          </a:xfrm>
          <a:prstGeom prst="ellipse">
            <a:avLst/>
          </a:prstGeom>
          <a:solidFill>
            <a:srgbClr val="28DC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468879" y="3063240"/>
            <a:ext cx="1508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F"/>
                </a:solidFill>
                <a:latin typeface="Aptos"/>
              </a:defRPr>
            </a:pPr>
            <a:r>
              <a:rPr sz="1600" dirty="0"/>
              <a:t>SHA-256</a:t>
            </a:r>
            <a:br>
              <a:rPr sz="1600" dirty="0"/>
            </a:br>
            <a:r>
              <a:rPr sz="1600" dirty="0"/>
              <a:t>HASH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57600" y="2496312"/>
            <a:ext cx="25400" cy="0"/>
          </a:xfrm>
          <a:prstGeom prst="line">
            <a:avLst/>
          </a:prstGeom>
          <a:ln>
            <a:solidFill>
              <a:srgbClr val="28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4892040" y="2057400"/>
            <a:ext cx="868680" cy="868680"/>
          </a:xfrm>
          <a:prstGeom prst="ellipse">
            <a:avLst/>
          </a:prstGeom>
          <a:solidFill>
            <a:srgbClr val="875A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0" y="3063240"/>
            <a:ext cx="1508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F"/>
                </a:solidFill>
                <a:latin typeface="Aptos"/>
              </a:defRPr>
            </a:pPr>
            <a:r>
              <a:rPr sz="1600" dirty="0"/>
              <a:t>SMART</a:t>
            </a:r>
            <a:br>
              <a:rPr sz="1600" dirty="0"/>
            </a:br>
            <a:r>
              <a:rPr sz="1600" dirty="0"/>
              <a:t>CONTRACT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760720" y="2496312"/>
            <a:ext cx="25400" cy="0"/>
          </a:xfrm>
          <a:prstGeom prst="line">
            <a:avLst/>
          </a:prstGeom>
          <a:ln>
            <a:solidFill>
              <a:srgbClr val="28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995160" y="2057400"/>
            <a:ext cx="868680" cy="868680"/>
          </a:xfrm>
          <a:prstGeom prst="ellipse">
            <a:avLst/>
          </a:prstGeom>
          <a:solidFill>
            <a:srgbClr val="875A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75120" y="3191143"/>
            <a:ext cx="15087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F"/>
                </a:solidFill>
                <a:latin typeface="Aptos"/>
              </a:defRPr>
            </a:pPr>
            <a:r>
              <a:rPr sz="1600" dirty="0"/>
              <a:t>BLOCKCHAIN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863840" y="2496312"/>
            <a:ext cx="25400" cy="0"/>
          </a:xfrm>
          <a:prstGeom prst="line">
            <a:avLst/>
          </a:prstGeom>
          <a:ln>
            <a:solidFill>
              <a:srgbClr val="28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098280" y="2057400"/>
            <a:ext cx="868680" cy="868680"/>
          </a:xfrm>
          <a:prstGeom prst="ellipse">
            <a:avLst/>
          </a:prstGeom>
          <a:solidFill>
            <a:srgbClr val="875A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78240" y="3191143"/>
            <a:ext cx="15087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2F7FF"/>
                </a:solidFill>
                <a:latin typeface="Aptos"/>
              </a:defRPr>
            </a:pPr>
            <a:r>
              <a:rPr sz="1600" dirty="0"/>
              <a:t>QR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0" y="4160520"/>
            <a:ext cx="6720840" cy="96012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41E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26080" y="4370832"/>
            <a:ext cx="6355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41E6A5"/>
                </a:solidFill>
                <a:latin typeface="Aptos"/>
              </a:defRPr>
            </a:pPr>
            <a:r>
              <a:t>✓ VERIFIED     |     HASH MATCH: YES     |     RISK: 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5237947"/>
            <a:ext cx="905256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A5B5CD"/>
                </a:solidFill>
                <a:latin typeface="Aptos"/>
              </a:defRPr>
            </a:pPr>
            <a:r>
              <a:rPr sz="2800" dirty="0">
                <a:solidFill>
                  <a:srgbClr val="00B0F0"/>
                </a:solidFill>
              </a:rPr>
              <a:t>Live demo: Upload → AI analysis → Blockchain registration → QR → Verification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87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-1188720" y="5120640"/>
            <a:ext cx="3291840" cy="3291840"/>
          </a:xfrm>
          <a:prstGeom prst="ellipse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A5B5CD"/>
                </a:solidFill>
                <a:latin typeface="Aptos"/>
              </a:defRPr>
            </a:pPr>
            <a:r>
              <a:t>SECUREID CHAIN  •  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391363"/>
            <a:ext cx="10607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2F7FF"/>
                </a:solidFill>
                <a:latin typeface="Aptos"/>
              </a:defRPr>
            </a:pPr>
            <a:r>
              <a:t>Security &amp; Privacy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521" y="909336"/>
            <a:ext cx="102412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5B5CD"/>
                </a:solidFill>
                <a:latin typeface="Aptos"/>
              </a:defRPr>
            </a:pPr>
            <a:r>
              <a:rPr sz="2000" dirty="0">
                <a:solidFill>
                  <a:srgbClr val="FFC000"/>
                </a:solidFill>
              </a:rPr>
              <a:t>Protect sensitive data while maintaining verifiability, auditability and tamper detection</a:t>
            </a:r>
            <a:r>
              <a:rPr sz="2000" dirty="0"/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1508760"/>
            <a:ext cx="3429000" cy="443484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59" y="1735128"/>
            <a:ext cx="306324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8DCFF"/>
                </a:solidFill>
                <a:latin typeface="Aptos"/>
              </a:defRPr>
            </a:pPr>
            <a:r>
              <a:rPr sz="2400" dirty="0"/>
              <a:t>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19" y="2497425"/>
            <a:ext cx="2788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  SHA-256 hashing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19" y="3119217"/>
            <a:ext cx="2788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  Smart contracts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19" y="3741009"/>
            <a:ext cx="2788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  RBAC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19" y="4362801"/>
            <a:ext cx="2788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  Digital signatures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19" y="4984593"/>
            <a:ext cx="2788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  Tamper detection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34840" y="1508760"/>
            <a:ext cx="3429000" cy="443484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17720" y="1735128"/>
            <a:ext cx="306324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875AFF"/>
                </a:solidFill>
                <a:latin typeface="Aptos"/>
              </a:defRPr>
            </a:pPr>
            <a:r>
              <a:rPr sz="2400" dirty="0"/>
              <a:t>PRIVACY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2343537"/>
            <a:ext cx="27889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  Off-chain sensitive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2965329"/>
            <a:ext cx="27889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  Cryptographic proofs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3741009"/>
            <a:ext cx="2788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  Controlled sharing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4362801"/>
            <a:ext cx="2788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  Minimal disclosure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1508760"/>
            <a:ext cx="3429000" cy="443484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0" y="1735128"/>
            <a:ext cx="306324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41E6A5"/>
                </a:solidFill>
                <a:latin typeface="Aptos"/>
              </a:defRPr>
            </a:pPr>
            <a:r>
              <a:rPr sz="2400" dirty="0"/>
              <a:t>FUTURE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2497425"/>
            <a:ext cx="2788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  DIDs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2965329"/>
            <a:ext cx="27889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  Verifiable credentials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3587121"/>
            <a:ext cx="27889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  Zero-Knowledge Proofs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4362801"/>
            <a:ext cx="27889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✓  Selective disclosure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87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-1188720" y="5120640"/>
            <a:ext cx="3291840" cy="3291840"/>
          </a:xfrm>
          <a:prstGeom prst="ellipse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A5B5CD"/>
                </a:solidFill>
                <a:latin typeface="Aptos"/>
              </a:defRPr>
            </a:pPr>
            <a:r>
              <a:t>SECUREID CHAIN  • 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350" y="263347"/>
            <a:ext cx="10607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2F7FF"/>
                </a:solidFill>
                <a:latin typeface="Aptos"/>
              </a:defRPr>
            </a:pPr>
            <a:r>
              <a:t>Social Impact &amp; Use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802098"/>
            <a:ext cx="102412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5B5CD"/>
                </a:solidFill>
                <a:latin typeface="Aptos"/>
              </a:defRPr>
            </a:pPr>
            <a:r>
              <a:rPr sz="20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Education, employment, government and healthcare credential verification.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1463040"/>
            <a:ext cx="5166360" cy="169164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1720185"/>
            <a:ext cx="4572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28DCFF"/>
                </a:solidFill>
                <a:latin typeface="Aptos"/>
              </a:defRPr>
            </a:pPr>
            <a:r>
              <a:rPr sz="2000" dirty="0"/>
              <a:t>EDUCATION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228600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Degrees • Diplomas • Skills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1463040"/>
            <a:ext cx="5166360" cy="169164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59" y="1720185"/>
            <a:ext cx="4572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875AFF"/>
                </a:solidFill>
                <a:latin typeface="Aptos"/>
              </a:defRPr>
            </a:pPr>
            <a:r>
              <a:rPr sz="2000" dirty="0"/>
              <a:t>EMPLOYMENT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59" y="228600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Qualifications • Certifications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3520440"/>
            <a:ext cx="5166360" cy="169164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0120" y="3777585"/>
            <a:ext cx="4572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28DCFF"/>
                </a:solidFill>
                <a:latin typeface="Aptos"/>
              </a:defRPr>
            </a:pPr>
            <a:r>
              <a:rPr sz="2000" dirty="0"/>
              <a:t>GOVERNMENT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4340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Licenses • Public services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3520440"/>
            <a:ext cx="5166360" cy="169164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37959" y="3777585"/>
            <a:ext cx="4572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875AFF"/>
                </a:solidFill>
                <a:latin typeface="Aptos"/>
              </a:defRPr>
            </a:pPr>
            <a:r>
              <a:rPr sz="2000" dirty="0"/>
              <a:t>HEALTHCARE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59" y="434340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Professional credentials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5422903"/>
            <a:ext cx="356616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41E6A5"/>
                </a:solidFill>
                <a:latin typeface="Aptos"/>
              </a:defRPr>
            </a:pPr>
            <a:r>
              <a:rPr sz="2400" dirty="0"/>
              <a:t>SOCIAL IMPACT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5850218"/>
            <a:ext cx="95097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2F7FF"/>
                </a:solidFill>
                <a:latin typeface="Aptos"/>
              </a:defRPr>
            </a:pPr>
            <a:r>
              <a:rPr sz="2000" dirty="0"/>
              <a:t>Less fraud  •  Faster verification  •  Greater trust  •  User-controlled credentials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87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-1355141" y="5074920"/>
            <a:ext cx="3291840" cy="3291840"/>
          </a:xfrm>
          <a:prstGeom prst="ellipse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A5B5CD"/>
                </a:solidFill>
                <a:latin typeface="Aptos"/>
              </a:defRPr>
            </a:pPr>
            <a:r>
              <a:t>SECUREID CHAIN  •  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156019"/>
            <a:ext cx="10607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2F7FF"/>
                </a:solidFill>
                <a:latin typeface="Aptos"/>
              </a:defRPr>
            </a:pPr>
            <a:r>
              <a:t>Scalability &amp; Roadmap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" y="645644"/>
            <a:ext cx="102412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5B5CD"/>
                </a:solidFill>
                <a:latin typeface="Aptos"/>
              </a:defRPr>
            </a:pPr>
            <a:r>
              <a:rPr sz="2000" dirty="0">
                <a:solidFill>
                  <a:schemeClr val="bg2">
                    <a:lumMod val="75000"/>
                  </a:schemeClr>
                </a:solidFill>
              </a:rPr>
              <a:t>Move from MVP to DIDs, verifiable credentials, privacy proofs and multi-organization deployment.</a:t>
            </a:r>
          </a:p>
        </p:txBody>
      </p:sp>
      <p:sp>
        <p:nvSpPr>
          <p:cNvPr id="30" name="Oval 29"/>
          <p:cNvSpPr/>
          <p:nvPr/>
        </p:nvSpPr>
        <p:spPr>
          <a:xfrm>
            <a:off x="502920" y="1600200"/>
            <a:ext cx="685800" cy="685800"/>
          </a:xfrm>
          <a:prstGeom prst="ellipse">
            <a:avLst/>
          </a:prstGeom>
          <a:solidFill>
            <a:srgbClr val="28DC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1741819"/>
            <a:ext cx="6858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2F7FF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88720" y="1938528"/>
            <a:ext cx="25400" cy="0"/>
          </a:xfrm>
          <a:prstGeom prst="line">
            <a:avLst/>
          </a:prstGeom>
          <a:ln>
            <a:solidFill>
              <a:srgbClr val="A5B5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20040" y="2651760"/>
            <a:ext cx="2423160" cy="205740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2900988"/>
            <a:ext cx="20574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8DCFF"/>
                </a:solidFill>
                <a:latin typeface="Aptos"/>
              </a:defRPr>
            </a:pPr>
            <a:r>
              <a:rPr sz="2400" dirty="0"/>
              <a:t>MVP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401229"/>
            <a:ext cx="205740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Upload • AI • Hash • Blockchain • QR</a:t>
            </a:r>
          </a:p>
        </p:txBody>
      </p:sp>
      <p:sp>
        <p:nvSpPr>
          <p:cNvPr id="36" name="Oval 35"/>
          <p:cNvSpPr/>
          <p:nvPr/>
        </p:nvSpPr>
        <p:spPr>
          <a:xfrm>
            <a:off x="3401568" y="1600200"/>
            <a:ext cx="685800" cy="685800"/>
          </a:xfrm>
          <a:prstGeom prst="ellipse">
            <a:avLst/>
          </a:prstGeom>
          <a:solidFill>
            <a:srgbClr val="875A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01568" y="1741819"/>
            <a:ext cx="6858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2F7FF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087368" y="1938528"/>
            <a:ext cx="25400" cy="0"/>
          </a:xfrm>
          <a:prstGeom prst="line">
            <a:avLst/>
          </a:prstGeom>
          <a:ln>
            <a:solidFill>
              <a:srgbClr val="A5B5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218687" y="2651760"/>
            <a:ext cx="2423160" cy="205740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01568" y="2900988"/>
            <a:ext cx="20574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875AFF"/>
                </a:solidFill>
                <a:latin typeface="Aptos"/>
              </a:defRPr>
            </a:pPr>
            <a:r>
              <a:rPr sz="2400" dirty="0"/>
              <a:t>IDENTITY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01568" y="3401229"/>
            <a:ext cx="205740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F2F7FF"/>
                </a:solidFill>
                <a:latin typeface="Aptos"/>
              </a:defRPr>
            </a:pPr>
            <a:r>
              <a:rPr sz="2000" dirty="0"/>
              <a:t>DIDs • Verifiable Credentials • Mobile</a:t>
            </a:r>
          </a:p>
        </p:txBody>
      </p:sp>
      <p:sp>
        <p:nvSpPr>
          <p:cNvPr id="42" name="Oval 41"/>
          <p:cNvSpPr/>
          <p:nvPr/>
        </p:nvSpPr>
        <p:spPr>
          <a:xfrm>
            <a:off x="6300216" y="1600200"/>
            <a:ext cx="685800" cy="685800"/>
          </a:xfrm>
          <a:prstGeom prst="ellipse">
            <a:avLst/>
          </a:prstGeom>
          <a:solidFill>
            <a:srgbClr val="875A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99302" y="1760107"/>
            <a:ext cx="6858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2F7FF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986016" y="1938528"/>
            <a:ext cx="25400" cy="0"/>
          </a:xfrm>
          <a:prstGeom prst="line">
            <a:avLst/>
          </a:prstGeom>
          <a:ln>
            <a:solidFill>
              <a:srgbClr val="A5B5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117336" y="2651760"/>
            <a:ext cx="2423160" cy="205740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00216" y="2900988"/>
            <a:ext cx="20574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875AFF"/>
                </a:solidFill>
                <a:latin typeface="Aptos"/>
              </a:defRPr>
            </a:pPr>
            <a:r>
              <a:rPr sz="2400" dirty="0"/>
              <a:t>PRIVACY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0216" y="3308896"/>
            <a:ext cx="2057400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F2F7FF"/>
                </a:solidFill>
                <a:latin typeface="Aptos"/>
              </a:defRPr>
            </a:pPr>
            <a:r>
              <a:rPr sz="2400" dirty="0"/>
              <a:t>ZKP • Selective disclosure</a:t>
            </a:r>
          </a:p>
        </p:txBody>
      </p:sp>
      <p:sp>
        <p:nvSpPr>
          <p:cNvPr id="48" name="Oval 47"/>
          <p:cNvSpPr/>
          <p:nvPr/>
        </p:nvSpPr>
        <p:spPr>
          <a:xfrm>
            <a:off x="9198864" y="1600200"/>
            <a:ext cx="685800" cy="685800"/>
          </a:xfrm>
          <a:prstGeom prst="ellipse">
            <a:avLst/>
          </a:prstGeom>
          <a:solidFill>
            <a:srgbClr val="875A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98864" y="1741819"/>
            <a:ext cx="6858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2F7FF"/>
                </a:solidFill>
                <a:latin typeface="Aptos"/>
              </a:defRPr>
            </a:pP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15984" y="2651760"/>
            <a:ext cx="2423160" cy="205740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98864" y="2900988"/>
            <a:ext cx="20574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875AFF"/>
                </a:solidFill>
                <a:latin typeface="Aptos"/>
              </a:defRPr>
            </a:pPr>
            <a:r>
              <a:rPr sz="2400" dirty="0"/>
              <a:t>SCALE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98864" y="3308896"/>
            <a:ext cx="2057400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F2F7FF"/>
                </a:solidFill>
                <a:latin typeface="Aptos"/>
              </a:defRPr>
            </a:pPr>
            <a:r>
              <a:rPr sz="2400" dirty="0"/>
              <a:t>Universities • Companies • Government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08760" y="5117068"/>
            <a:ext cx="978408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A5B5CD"/>
                </a:solidFill>
                <a:latin typeface="Aptos"/>
              </a:defRPr>
            </a:pPr>
            <a:r>
              <a:rPr sz="2800" dirty="0">
                <a:solidFill>
                  <a:schemeClr val="bg2">
                    <a:lumMod val="75000"/>
                  </a:schemeClr>
                </a:solidFill>
              </a:rPr>
              <a:t>Goal:</a:t>
            </a:r>
            <a:r>
              <a:rPr sz="2800" dirty="0"/>
              <a:t> </a:t>
            </a:r>
            <a:r>
              <a:rPr sz="2800" dirty="0">
                <a:solidFill>
                  <a:schemeClr val="bg2">
                    <a:lumMod val="75000"/>
                  </a:schemeClr>
                </a:solidFill>
              </a:rPr>
              <a:t>a multi-issuer, multi-verifier identity ecosystem without a separate centralized database for every organization</a:t>
            </a:r>
            <a:r>
              <a:rPr dirty="0">
                <a:solidFill>
                  <a:schemeClr val="bg2">
                    <a:lumMod val="75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7315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92640" y="-1005840"/>
            <a:ext cx="3840480" cy="3840480"/>
          </a:xfrm>
          <a:prstGeom prst="ellipse">
            <a:avLst/>
          </a:prstGeom>
          <a:solidFill>
            <a:srgbClr val="87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-1188720" y="5120640"/>
            <a:ext cx="3291840" cy="3291840"/>
          </a:xfrm>
          <a:prstGeom prst="ellipse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3200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A5B5CD"/>
                </a:solidFill>
                <a:latin typeface="Aptos"/>
              </a:defRPr>
            </a:pPr>
            <a:r>
              <a:t>SECUREID CHAIN  • 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790" y="316331"/>
            <a:ext cx="1060704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2F7FF"/>
                </a:solidFill>
                <a:latin typeface="Aptos"/>
              </a:defRPr>
            </a:pPr>
            <a:r>
              <a:rPr sz="2400" dirty="0"/>
              <a:t>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675" y="777996"/>
            <a:ext cx="102412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5B5CD"/>
                </a:solidFill>
                <a:latin typeface="Aptos"/>
              </a:defRPr>
            </a:pPr>
            <a:r>
              <a:rPr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Secure identities. Verifiable credentials. Trusted digital India.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4795" y="1486834"/>
            <a:ext cx="3154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8DCFF"/>
                </a:solidFill>
                <a:latin typeface="Aptos"/>
              </a:defRPr>
            </a:pPr>
            <a:r>
              <a:t>AI  =  INTELLIGENCE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9584" y="1510165"/>
            <a:ext cx="3154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875AFF"/>
                </a:solidFill>
                <a:latin typeface="Aptos"/>
              </a:defRPr>
            </a:pPr>
            <a:r>
              <a:t>BLOCKCHAIN  =  TRUST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02389" y="1486834"/>
            <a:ext cx="3154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41E6A5"/>
                </a:solidFill>
                <a:latin typeface="Aptos"/>
              </a:defRPr>
            </a:pPr>
            <a:r>
              <a:t>DIGITAL ID  =  CONTROL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2468880"/>
            <a:ext cx="9966960" cy="1828800"/>
          </a:xfrm>
          <a:prstGeom prst="roundRect">
            <a:avLst/>
          </a:prstGeom>
          <a:solidFill>
            <a:srgbClr val="101830"/>
          </a:solidFill>
          <a:ln w="12700">
            <a:solidFill>
              <a:srgbClr val="26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508760" y="2763381"/>
            <a:ext cx="91440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F2F7FF"/>
                </a:solidFill>
                <a:latin typeface="Aptos"/>
              </a:defRPr>
            </a:pPr>
            <a:r>
              <a:rPr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SECUREID CHAIN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3495348"/>
            <a:ext cx="9144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A5B5CD"/>
                </a:solidFill>
                <a:latin typeface="Aptos"/>
              </a:defRPr>
            </a:pPr>
            <a:r>
              <a:rPr sz="2400" dirty="0">
                <a:solidFill>
                  <a:schemeClr val="accent6">
                    <a:lumMod val="75000"/>
                  </a:schemeClr>
                </a:solidFill>
              </a:rPr>
              <a:t>Secure identities • Verifiable credentials • Trusted digital India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4942553"/>
            <a:ext cx="813816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28DCFF"/>
                </a:solidFill>
                <a:latin typeface="Aptos"/>
              </a:defRPr>
            </a:pPr>
            <a:r>
              <a:rPr sz="3200" dirty="0"/>
              <a:t>“Verify Once. Trust Everywhere.”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574715"/>
            <a:ext cx="649224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2F7FF"/>
                </a:solidFill>
                <a:latin typeface="Aptos"/>
              </a:defRPr>
            </a:pPr>
            <a:r>
              <a:rPr sz="3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820</Words>
  <Application>Microsoft Office PowerPoint</Application>
  <PresentationFormat>Widescreen</PresentationFormat>
  <Paragraphs>220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madhav arora</cp:lastModifiedBy>
  <cp:revision>3</cp:revision>
  <dcterms:created xsi:type="dcterms:W3CDTF">2013-01-27T09:14:16Z</dcterms:created>
  <dcterms:modified xsi:type="dcterms:W3CDTF">2026-08-20T15:31:07Z</dcterms:modified>
  <cp:category/>
</cp:coreProperties>
</file>